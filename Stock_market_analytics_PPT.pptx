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2" r:id="rId6"/>
    <p:sldId id="268" r:id="rId7"/>
    <p:sldId id="269" r:id="rId8"/>
    <p:sldId id="271" r:id="rId9"/>
    <p:sldId id="272" r:id="rId10"/>
    <p:sldId id="276" r:id="rId11"/>
    <p:sldId id="275" r:id="rId12"/>
    <p:sldId id="270" r:id="rId13"/>
    <p:sldId id="277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0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2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7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01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9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6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1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61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94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77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12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71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51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3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3489D5B-C0CE-4A45-A0FE-6385DCA7D50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74D2688-5C12-4164-B2D8-1A2E28E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6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EB07-B679-E747-FCA6-E35599CAB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51729"/>
            <a:ext cx="9521512" cy="1706338"/>
          </a:xfrm>
        </p:spPr>
        <p:txBody>
          <a:bodyPr/>
          <a:lstStyle/>
          <a:p>
            <a:pPr algn="ctr"/>
            <a:r>
              <a:rPr lang="en-US" b="1" u="sng" dirty="0"/>
              <a:t>STOCK MARKET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72037-D36A-2CDB-3469-F33D688CF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489" y="4004734"/>
            <a:ext cx="8825658" cy="2283643"/>
          </a:xfrm>
        </p:spPr>
        <p:txBody>
          <a:bodyPr>
            <a:normAutofit/>
          </a:bodyPr>
          <a:lstStyle/>
          <a:p>
            <a:pPr algn="ctr"/>
            <a:r>
              <a:rPr lang="en-US" b="1" cap="none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Presented by Group-2</a:t>
            </a:r>
          </a:p>
          <a:p>
            <a:pPr algn="ctr"/>
            <a:endParaRPr lang="en-US" b="1" cap="none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2400" b="1" cap="none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1050" b="1" cap="none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1050" b="1" cap="none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1050" b="1" cap="none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endParaRPr lang="en-US" sz="1050" b="1" cap="none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985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B15F0-3E10-DFB0-C62C-3045779D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GROUP DETAILS</a:t>
            </a:r>
            <a:endParaRPr lang="en-US" b="1" u="sn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92F722-3C3C-0433-CD79-A9C708C7B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Eshan Dipak Chaudhari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Raiyana </a:t>
            </a:r>
            <a:r>
              <a:rPr lang="en-IN" dirty="0" err="1"/>
              <a:t>Reyaz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Rohan Shinde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/>
              <a:t>Lavankula</a:t>
            </a:r>
            <a:r>
              <a:rPr lang="en-IN" dirty="0"/>
              <a:t> Mohan Surya Pavan Kumar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Dasari Leela Lokesh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Manohar B</a:t>
            </a:r>
          </a:p>
        </p:txBody>
      </p:sp>
    </p:spTree>
    <p:extLst>
      <p:ext uri="{BB962C8B-B14F-4D97-AF65-F5344CB8AC3E}">
        <p14:creationId xmlns:p14="http://schemas.microsoft.com/office/powerpoint/2010/main" val="197319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590AF-D4E1-52F1-A263-220A5640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197203"/>
            <a:ext cx="8761413" cy="631597"/>
          </a:xfrm>
        </p:spPr>
        <p:txBody>
          <a:bodyPr/>
          <a:lstStyle/>
          <a:p>
            <a:pPr algn="ctr"/>
            <a:r>
              <a:rPr lang="en-US" b="1" i="0" u="sng" dirty="0">
                <a:effectLst/>
                <a:latin typeface="-apple-system"/>
              </a:rPr>
              <a:t>PROJECT SUMMARY</a:t>
            </a:r>
            <a:br>
              <a:rPr lang="en-US" b="1" i="0" u="sng" dirty="0">
                <a:effectLst/>
                <a:latin typeface="-apple-system"/>
              </a:rPr>
            </a:br>
            <a:endParaRPr lang="en-US" b="1" u="sng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632C5E-4A68-821E-C901-BBDD3F1A4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10062"/>
            <a:ext cx="121919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Objective: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The project aims to analyze historical stock market data to identify trends, evaluate market behavior, and generate insights that support data‑driven investment decisions.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Data Collection &amp; Preparation: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Multi‑year stock price data (open, high, low, close, volume) is gathered from reliable financial sources, cleaned for missing values, and structured for time‑series analysis.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Analytical Methods: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Techniques such as moving averages, volatility analysis, correlation studies, and time‑series forecasting models are applied to understand price movements and predict future trends.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Visualization &amp; Dashboarding: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Interactive charts and dashboards highlight key metrics like trend lines, sector performance, risk indicators, and forecasted price trajectories to simplify interpretation.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Insights &amp; Outcomes: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Body)"/>
              </a:rPr>
              <a:t>The analysis reveals market patterns, identifies potential investment opportunities, and provides actionable insights that help investors manage risk and optimize portfolio decisions.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Body)"/>
            </a:endParaRPr>
          </a:p>
        </p:txBody>
      </p:sp>
    </p:spTree>
    <p:extLst>
      <p:ext uri="{BB962C8B-B14F-4D97-AF65-F5344CB8AC3E}">
        <p14:creationId xmlns:p14="http://schemas.microsoft.com/office/powerpoint/2010/main" val="140004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B73FF-94D1-1EC2-2F22-2BD49679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4B26-6C78-23BF-1B86-90C6DDE2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KPI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222C-2811-FE68-55D1-337CA5B81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95" y="2361235"/>
            <a:ext cx="11910349" cy="449676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Total Market Capitalization = Σ (Share Price × Outstanding Shares)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Average Daily Trading Volume = Avg(Trading Volume)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Volatility = Std Dev of Daily Returns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Top Performing Sector = Sector with highest average return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Portfolio Value = Σ (Quantity Held × Latest Share Price)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Portfolio Return % = (Current Value – Initial Value) ÷ Initial Value ×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Dividend Yield = (Annual Dividend per Share ÷ Share Price) ×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Sharpe Ratio = (Portfolio Return – Risk-Free Rate) ÷ Volatility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Order Execution Rate = (Executed Trades ÷ Orders Placed) ×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Trade Win Rate = SUM(</a:t>
            </a:r>
            <a:r>
              <a:rPr lang="en-US" dirty="0" err="1"/>
              <a:t>win_flag</a:t>
            </a:r>
            <a:r>
              <a:rPr lang="en-US" dirty="0"/>
              <a:t>) / COUNT(*)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Trader Performance (P&amp;L) = Σ (Sell Value – Buy Value)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723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5CFD-0C82-7441-DAB2-02552B0A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64" y="571059"/>
            <a:ext cx="8761413" cy="706964"/>
          </a:xfrm>
        </p:spPr>
        <p:txBody>
          <a:bodyPr/>
          <a:lstStyle/>
          <a:p>
            <a:pPr algn="ctr"/>
            <a:r>
              <a:rPr lang="en-US" b="1" u="sng" dirty="0"/>
              <a:t>EXCEL 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5068C5-8F58-06CB-E319-E0C7FC88A9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066" y="1555846"/>
            <a:ext cx="11390374" cy="500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3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C4E43-36A0-FAC5-5D8F-4D200CF7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6677-A893-FD77-8391-D1CD0642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784" y="693888"/>
            <a:ext cx="8761413" cy="706964"/>
          </a:xfrm>
        </p:spPr>
        <p:txBody>
          <a:bodyPr/>
          <a:lstStyle/>
          <a:p>
            <a:pPr algn="ctr"/>
            <a:r>
              <a:rPr lang="en-US" b="1" u="sng" dirty="0"/>
              <a:t>TABLEAU DASHBOARD</a:t>
            </a:r>
          </a:p>
        </p:txBody>
      </p:sp>
      <p:pic>
        <p:nvPicPr>
          <p:cNvPr id="5" name="Content Placeholder 4" descr="A screenshot of a stock market dashboard&#10;&#10;AI-generated content may be incorrect.">
            <a:extLst>
              <a:ext uri="{FF2B5EF4-FFF2-40B4-BE49-F238E27FC236}">
                <a16:creationId xmlns:a16="http://schemas.microsoft.com/office/drawing/2014/main" id="{33B67C71-1C83-5503-D9F4-FC2F6FD40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433" y="1803168"/>
            <a:ext cx="11238931" cy="458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2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0059-109D-7D7C-F695-4FF99E489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967A-89C6-9AF5-8882-FBFCFAC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POWER BI DASHBOARD</a:t>
            </a:r>
          </a:p>
        </p:txBody>
      </p:sp>
      <p:pic>
        <p:nvPicPr>
          <p:cNvPr id="13" name="Content Placeholder 12" descr="A blue and black chart&#10;&#10;AI-generated content may be incorrect.">
            <a:extLst>
              <a:ext uri="{FF2B5EF4-FFF2-40B4-BE49-F238E27FC236}">
                <a16:creationId xmlns:a16="http://schemas.microsoft.com/office/drawing/2014/main" id="{49F6D7F4-8426-A294-9B8E-42D83C72F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1958907"/>
            <a:ext cx="9178120" cy="47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62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68F8-D6CF-67C3-7F67-E8A1B128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4C499-E683-656D-777D-3EBD5C6C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250" y="612002"/>
            <a:ext cx="8761413" cy="706964"/>
          </a:xfrm>
        </p:spPr>
        <p:txBody>
          <a:bodyPr/>
          <a:lstStyle/>
          <a:p>
            <a:pPr algn="ctr"/>
            <a:r>
              <a:rPr lang="en-US" b="1" u="sng" dirty="0"/>
              <a:t>POWER BI DASHBOARD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B5E0B2-F6AA-7FA7-5D30-1189590E6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024" y="1318967"/>
            <a:ext cx="11334837" cy="534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72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23A17-1CFE-BA53-2790-38521970C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F56BC-A1E1-9CD4-E350-9212D857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898" y="591531"/>
            <a:ext cx="8761413" cy="706964"/>
          </a:xfrm>
        </p:spPr>
        <p:txBody>
          <a:bodyPr/>
          <a:lstStyle/>
          <a:p>
            <a:pPr algn="ctr"/>
            <a:r>
              <a:rPr lang="en-US" b="1" u="sng" dirty="0"/>
              <a:t>POWER BI DASHBOARD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B9B6A0-D437-2544-A5CF-010A1F502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497" y="1298495"/>
            <a:ext cx="10983006" cy="542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44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ABE4-304D-250C-F1A4-1B13901A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14E25-5B25-9E1C-0E6E-EAA70FF1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35" y="393638"/>
            <a:ext cx="8761413" cy="706964"/>
          </a:xfrm>
        </p:spPr>
        <p:txBody>
          <a:bodyPr/>
          <a:lstStyle/>
          <a:p>
            <a:pPr algn="ctr"/>
            <a:r>
              <a:rPr lang="en-US" b="1" u="sng" dirty="0"/>
              <a:t>SQL QUERIES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770624-7B31-BCD3-9170-5B5210FF4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94" y="1100602"/>
            <a:ext cx="4726261" cy="575739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E0F99A-D274-D918-A117-2DE8E9B63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869" y="1150802"/>
            <a:ext cx="6917921" cy="565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3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02A6-C70E-2BF2-949D-264E4DF2C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197B-ECF4-567B-45F5-61B4F9846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SQL QUERIES</a:t>
            </a:r>
          </a:p>
        </p:txBody>
      </p:sp>
      <p:pic>
        <p:nvPicPr>
          <p:cNvPr id="5" name="Content Placeholder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10EADFE1-F65B-2DA1-F819-E60BFE513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588" y="2426227"/>
            <a:ext cx="10302875" cy="354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11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20641-6C8D-AFEA-C646-B4FED9D79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BE64-3F3C-1D63-E18C-AA0024E2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9795C-33C8-017C-A961-9779F099C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1" y="2310063"/>
            <a:ext cx="10303498" cy="377965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Executive Summary &amp; High-Level KPIs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Strong Portfolio Performance:</a:t>
            </a:r>
            <a:r>
              <a:rPr lang="en-US" dirty="0"/>
              <a:t> Total realized </a:t>
            </a:r>
            <a:r>
              <a:rPr lang="en-US" dirty="0" err="1"/>
              <a:t>PnL</a:t>
            </a:r>
            <a:r>
              <a:rPr lang="en-US" dirty="0"/>
              <a:t> stands at </a:t>
            </a:r>
            <a:r>
              <a:rPr lang="en-US" b="1" dirty="0"/>
              <a:t>$60.79M</a:t>
            </a:r>
            <a:r>
              <a:rPr lang="en-US" dirty="0"/>
              <a:t> with an exceptionally high win rate of </a:t>
            </a:r>
            <a:r>
              <a:rPr lang="en-US" b="1" dirty="0"/>
              <a:t>0.89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Core Portfolio Value:</a:t>
            </a:r>
            <a:r>
              <a:rPr lang="en-US" dirty="0"/>
              <a:t> The total portfolio value is </a:t>
            </a:r>
            <a:r>
              <a:rPr lang="en-US" b="1" dirty="0"/>
              <a:t>$221M</a:t>
            </a:r>
            <a:r>
              <a:rPr lang="en-US" dirty="0"/>
              <a:t>, supported by a sector market capitalization of </a:t>
            </a:r>
            <a:r>
              <a:rPr lang="en-US" b="1" dirty="0"/>
              <a:t>$270M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Trading Efficiency:</a:t>
            </a:r>
            <a:r>
              <a:rPr lang="en-US" dirty="0"/>
              <a:t> Average returns remain positive at </a:t>
            </a:r>
            <a:r>
              <a:rPr lang="en-US" b="1" dirty="0"/>
              <a:t>0.27%</a:t>
            </a:r>
            <a:r>
              <a:rPr lang="en-US" dirty="0"/>
              <a:t> despite a return volatility of </a:t>
            </a:r>
            <a:r>
              <a:rPr lang="en-US" b="1" dirty="0"/>
              <a:t>0.91</a:t>
            </a:r>
            <a:r>
              <a:rPr lang="en-US" dirty="0"/>
              <a:t>.</a:t>
            </a:r>
          </a:p>
          <a:p>
            <a:r>
              <a:rPr lang="en-US" b="1" dirty="0"/>
              <a:t>Sector &amp; Asset Allocation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IT Dominance:</a:t>
            </a:r>
            <a:r>
              <a:rPr lang="en-US" dirty="0"/>
              <a:t> Information Technology is the primary driver and the highest average trade prices.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Portfolio Diversification:</a:t>
            </a:r>
            <a:r>
              <a:rPr lang="en-US" dirty="0"/>
              <a:t> All portfolios show a heavy tilt toward, followed by Healthcare and Energy.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Stable Sector Distribution:</a:t>
            </a:r>
            <a:r>
              <a:rPr lang="en-US" dirty="0"/>
              <a:t> While IT leads, there is a balanced distribution among other sectors.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34567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79C9-8DB3-7971-C309-8E7803AB5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6254-85AC-4387-CC8E-5BF6881C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98833-70E3-101D-FBC5-93E64B7D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1" y="2310063"/>
            <a:ext cx="10303498" cy="3779651"/>
          </a:xfrm>
        </p:spPr>
        <p:txBody>
          <a:bodyPr>
            <a:normAutofit/>
          </a:bodyPr>
          <a:lstStyle/>
          <a:p>
            <a:r>
              <a:rPr lang="en-US" b="1" dirty="0"/>
              <a:t>Trader Performance &amp; Desk Activity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Top Performers:</a:t>
            </a:r>
            <a:r>
              <a:rPr lang="en-US" dirty="0"/>
              <a:t> Morgan Williams leads in total realized </a:t>
            </a:r>
            <a:r>
              <a:rPr lang="en-US" dirty="0" err="1"/>
              <a:t>PnL</a:t>
            </a:r>
            <a:r>
              <a:rPr lang="en-US" dirty="0"/>
              <a:t> (</a:t>
            </a:r>
            <a:r>
              <a:rPr lang="en-US" b="1" dirty="0"/>
              <a:t>$4.6M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Desk Strategy:</a:t>
            </a:r>
            <a:r>
              <a:rPr lang="en-US" dirty="0"/>
              <a:t> The </a:t>
            </a:r>
            <a:r>
              <a:rPr lang="en-US" b="1" dirty="0"/>
              <a:t>Momentum desk</a:t>
            </a:r>
            <a:r>
              <a:rPr lang="en-US" dirty="0"/>
              <a:t> is the primary volume driver, responsible for nearly </a:t>
            </a:r>
            <a:r>
              <a:rPr lang="en-US" b="1" dirty="0"/>
              <a:t>60%</a:t>
            </a:r>
            <a:r>
              <a:rPr lang="en-US" dirty="0"/>
              <a:t> of total quantity traded.</a:t>
            </a:r>
          </a:p>
          <a:p>
            <a:r>
              <a:rPr lang="en-US" b="1" dirty="0"/>
              <a:t>Market Dynamics &amp; Volume Trends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Trading Balance:</a:t>
            </a:r>
            <a:r>
              <a:rPr lang="en-US" dirty="0"/>
              <a:t> The market shows healthy liquidity with </a:t>
            </a:r>
            <a:r>
              <a:rPr lang="en-US" b="1" dirty="0"/>
              <a:t>134.3K</a:t>
            </a:r>
            <a:r>
              <a:rPr lang="en-US" dirty="0"/>
              <a:t> buy quantity versus </a:t>
            </a:r>
            <a:r>
              <a:rPr lang="en-US" b="1" dirty="0"/>
              <a:t>125.4K</a:t>
            </a:r>
            <a:r>
              <a:rPr lang="en-US" dirty="0"/>
              <a:t> sell quantity.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Monthly Momentum:</a:t>
            </a:r>
            <a:r>
              <a:rPr lang="en-US" dirty="0"/>
              <a:t> Total quantity traded remained steady between </a:t>
            </a:r>
            <a:r>
              <a:rPr lang="en-US" b="1" dirty="0"/>
              <a:t>20K–25K</a:t>
            </a:r>
            <a:r>
              <a:rPr lang="en-US" dirty="0"/>
              <a:t> monthly, with a noticeable peak in </a:t>
            </a:r>
            <a:r>
              <a:rPr lang="en-US" b="1" dirty="0"/>
              <a:t>March</a:t>
            </a:r>
            <a:r>
              <a:rPr lang="en-US" dirty="0"/>
              <a:t> for the IT sector.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7083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201B-E691-D2AF-FE97-C1E3FFFC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962E-E7D6-1FCE-BAAA-6F58AC12F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51728"/>
            <a:ext cx="8825658" cy="2592371"/>
          </a:xfrm>
        </p:spPr>
        <p:txBody>
          <a:bodyPr/>
          <a:lstStyle/>
          <a:p>
            <a:pPr algn="ctr"/>
            <a:r>
              <a:rPr lang="en-US" b="1" u="sng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119843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3050</TotalTime>
  <Words>559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-apple-system</vt:lpstr>
      <vt:lpstr>Arial</vt:lpstr>
      <vt:lpstr>Century Gothic</vt:lpstr>
      <vt:lpstr>Century Gothic (Body)</vt:lpstr>
      <vt:lpstr>IBM Plex Sans</vt:lpstr>
      <vt:lpstr>Wingdings</vt:lpstr>
      <vt:lpstr>Wingdings 3</vt:lpstr>
      <vt:lpstr>Ion Boardroom</vt:lpstr>
      <vt:lpstr>STOCK MARKET ANALYTICS</vt:lpstr>
      <vt:lpstr>GROUP DETAILS</vt:lpstr>
      <vt:lpstr>PROJECT SUMMARY </vt:lpstr>
      <vt:lpstr>KPI LIST</vt:lpstr>
      <vt:lpstr>EXCEL DASHBOARD</vt:lpstr>
      <vt:lpstr>TABLEAU DASHBOARD</vt:lpstr>
      <vt:lpstr>POWER BI DASHBOARD</vt:lpstr>
      <vt:lpstr>POWER BI DASHBOARD</vt:lpstr>
      <vt:lpstr>POWER BI DASHBOARD</vt:lpstr>
      <vt:lpstr>SQL QUERIES</vt:lpstr>
      <vt:lpstr>SQL QUERIES</vt:lpstr>
      <vt:lpstr>KEY TAKEAWAYS</vt:lpstr>
      <vt:lpstr>KEY TAKEAWAYS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Dakhole</dc:creator>
  <cp:lastModifiedBy>LAVANKULA SURYA</cp:lastModifiedBy>
  <cp:revision>6</cp:revision>
  <dcterms:created xsi:type="dcterms:W3CDTF">2025-06-20T04:55:02Z</dcterms:created>
  <dcterms:modified xsi:type="dcterms:W3CDTF">2025-12-21T07:05:38Z</dcterms:modified>
</cp:coreProperties>
</file>